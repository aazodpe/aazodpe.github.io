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17520" cy="51435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17520" y="0"/>
            <a:ext cx="36576" cy="514350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475488"/>
            <a:ext cx="2468880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75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·  MODEL IMPLEMENTATION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28600" y="34747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Moulik Kumar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Zodpe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Patil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" y="448056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·  CU Boulder  ·  April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91840" y="457200"/>
            <a:ext cx="5577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Resilience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Carbon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309067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Characterizing Electricity Demand and Marginal CO₂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 During Hazardous Grid Events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4206240"/>
            <a:ext cx="1335024" cy="694944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425196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8–25, 2024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709160" y="4206240"/>
            <a:ext cx="1335024" cy="694944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425196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1,725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2200" y="4206240"/>
            <a:ext cx="1335024" cy="694944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25196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35240" y="4206240"/>
            <a:ext cx="1335024" cy="694944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4251960"/>
            <a:ext cx="1243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OVERVIEW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8503920" cy="749808"/>
          </a:xfrm>
          <a:prstGeom prst="rect">
            <a:avLst/>
          </a:prstGeom>
          <a:solidFill>
            <a:srgbClr val="0B1A2B"/>
          </a:solidFill>
          <a:ln w="1524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hazardous grid events be characterized by </a:t>
            </a:r>
            <a:pPr algn="ctr" indent="0" marL="0">
              <a:buNone/>
            </a:pPr>
            <a:r>
              <a:rPr lang="en-US" sz="1300" b="1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electricity demand and marginal CO₂ emission profiles</a:t>
            </a:r>
            <a:pPr algn="ctr" indent="0" marL="0">
              <a:buNone/>
            </a:pPr>
            <a:r>
              <a:rPr lang="en-US" sz="130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using time-resolved grid data?”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28346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361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056" y="1847088"/>
            <a:ext cx="257860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WattTime MOER API (5-min emissions)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EIA-930 Demand API (hourly)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CAISO region, Aug 8–25 2024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52,711 raw emission records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10128" y="1444752"/>
            <a:ext cx="28346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9856" y="15361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Studied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38144" y="1847088"/>
            <a:ext cx="257860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15–18, 2024 CA heat wave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CAISO grid stress + rolling outages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catalogued grid events total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event rows (22.3% of data)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91072" y="1444752"/>
            <a:ext cx="2834640" cy="2926080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536192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ML Models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19088" y="1847088"/>
            <a:ext cx="2578608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Pattern Mining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FOR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0916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TRANSFORMATION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4114800" cy="3154680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6012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Issues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8056" y="1271016"/>
            <a:ext cx="3858768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75% missing (hourly → 15-min gaps)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features had leading NaN values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stored as string category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event labels on time windows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MOER vs. demand magnitude mismatch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4114800" cy="3154680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96012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&amp; Engineered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37176" y="1271016"/>
            <a:ext cx="3858768" cy="2624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forward-filled → 0% missing at 15-min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features back/forward-filled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label-encoded; is_peak_hour added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is_event label applied (Aug 15–18 heat wave)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resolves scale mismatch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16552" y="2084832"/>
            <a:ext cx="310896" cy="40233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98264" y="2039112"/>
            <a:ext cx="3474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E1A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320040" y="4133088"/>
            <a:ext cx="8503920" cy="731520"/>
          </a:xfrm>
          <a:prstGeom prst="rect">
            <a:avLst/>
          </a:prstGeom>
          <a:solidFill>
            <a:srgbClr val="08102B"/>
          </a:solidFill>
          <a:ln w="10160">
            <a:solidFill>
              <a:srgbClr val="2A30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413308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</a:t>
            </a:r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1,725 rows × 15 features</a:t>
            </a:r>
            <a:pPr algn="ctr" indent="0" marL="0">
              <a:buNone/>
            </a:pPr>
            <a:r>
              <a:rPr lang="en-US" sz="1200" dirty="0">
                <a:solidFill>
                  <a:srgbClr val="2A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rows: </a:t>
            </a:r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 (22.3%)</a:t>
            </a:r>
            <a:pPr algn="ctr" indent="0" marL="0">
              <a:buNone/>
            </a:pPr>
            <a:r>
              <a:rPr lang="en-US" sz="1200" dirty="0">
                <a:solidFill>
                  <a:srgbClr val="2A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rows: </a:t>
            </a:r>
            <a:pPr algn="ctr" indent="0" marL="0">
              <a:buNone/>
            </a:pPr>
            <a:r>
              <a:rPr lang="en-US" sz="12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1,341 (77.7%)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  ·  K-MEANS CLUSTERING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3246120" cy="4315968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2971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MOER + demand features match K-Means' Euclidean model. Interpretable centroid-based archetypes without requiring labels — ideal for grid state discovery.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swept 2–8; best k=4 via silhouette score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n_init=20 for stable centroids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(MOER vs. demand scale)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7980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Grid Archetypes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127248"/>
            <a:ext cx="1417320" cy="40233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1272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High-Stress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947672" y="3127248"/>
            <a:ext cx="1417320" cy="402336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3127248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High-Emit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648456"/>
            <a:ext cx="1417320" cy="40233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6484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947672" y="3648456"/>
            <a:ext cx="1417320" cy="402336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47672" y="3648456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11880" y="566928"/>
            <a:ext cx="5257800" cy="3246120"/>
          </a:xfrm>
          <a:prstGeom prst="rect">
            <a:avLst/>
          </a:prstGeom>
          <a:solidFill>
            <a:srgbClr val="1A1F2E"/>
          </a:solidFill>
          <a:ln w="10160">
            <a:solidFill>
              <a:srgbClr val="2A3048"/>
            </a:solidFill>
            <a:prstDash val="solid"/>
          </a:ln>
        </p:spPr>
      </p:sp>
      <p:pic>
        <p:nvPicPr>
          <p:cNvPr id="20" name="Image 0" descr="/sessions/zealous-funny-noether/mnt/Data Mining Project/figures/model_01_cluster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594360"/>
            <a:ext cx="5202936" cy="3191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3611880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0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↑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376672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22392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0.632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Davies-Bouldin ↓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7141464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A8FF7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187184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Clusters (k)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  ·  LOGISTIC REGRESSION  (HIGH vs. LOW EMISSION EVENTS)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3246120" cy="4315968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Event-level dataset (23 rows) requires a simple, interpretable model. LR coefficients directly show which demand features drive high CO₂. Replaces RF (rolling features caused data leakage).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high_emission if peak_moer &gt; 60th 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peak/avg demand, duration, demand_range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SimpleImputer → StandardScaler → LogisticReg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StratifiedKFold CV (5 folds) — honest estimates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2971800" cy="420624"/>
          </a:xfrm>
          <a:prstGeom prst="rect">
            <a:avLst/>
          </a:prstGeom>
          <a:solidFill>
            <a:srgbClr val="1E1208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8328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event_features.csv  ·  23 event-level rows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895344"/>
            <a:ext cx="2971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AUC=0.65 &gt; 0.5 → demand carries real emission signal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566928"/>
            <a:ext cx="5257800" cy="3246120"/>
          </a:xfrm>
          <a:prstGeom prst="rect">
            <a:avLst/>
          </a:prstGeom>
          <a:solidFill>
            <a:srgbClr val="1A1F2E"/>
          </a:solidFill>
          <a:ln w="10160">
            <a:solidFill>
              <a:srgbClr val="2A3048"/>
            </a:solidFill>
            <a:prstDash val="solid"/>
          </a:ln>
        </p:spPr>
      </p:sp>
      <p:pic>
        <p:nvPicPr>
          <p:cNvPr id="15" name="Image 0" descr="/sessions/zealous-funny-noether/mnt/Data Mining Project/figures/model_02_classific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594360"/>
            <a:ext cx="5202936" cy="31912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11880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0.48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Accuracy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376672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22392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0.31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F1-Score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141464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87184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ROC-AUC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  ·  LINEAR REGRESSION  (DEMAND–MOER BASELINE)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3246120" cy="4315968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Linear Regression?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quantitative baseline for demand–emissions relationship. Standardized coefficients reveal which predictors drive MOER; residuals expose where linearity breaks down during events.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29718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— no regularization (interpretability)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covariate: hour (std coef = −49.3)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term adds +16.9 lbs CO₂/MWh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CAISO solar dip → mid-day MOER valley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30906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383280"/>
            <a:ext cx="2971800" cy="969264"/>
          </a:xfrm>
          <a:prstGeom prst="rect">
            <a:avLst/>
          </a:prstGeom>
          <a:solidFill>
            <a:srgbClr val="1A1600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3474720"/>
            <a:ext cx="2752344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R²=0.237 confirms demand alone explains only 24% of MOER variance. Events alter the demand–carbon curve → motivates gradient boosting in Milestone 4.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566928"/>
            <a:ext cx="5257800" cy="3246120"/>
          </a:xfrm>
          <a:prstGeom prst="rect">
            <a:avLst/>
          </a:prstGeom>
          <a:solidFill>
            <a:srgbClr val="1A1F2E"/>
          </a:solidFill>
          <a:ln w="10160">
            <a:solidFill>
              <a:srgbClr val="2A3048"/>
            </a:solidFill>
            <a:prstDash val="solid"/>
          </a:ln>
        </p:spPr>
      </p:sp>
      <p:pic>
        <p:nvPicPr>
          <p:cNvPr id="14" name="Image 0" descr="/sessions/zealous-funny-noether/mnt/Data Mining Project/figures/model_03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594360"/>
            <a:ext cx="5202936" cy="3191256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3611880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57600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105.4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(lbs CO₂/MWh)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376672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22392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11,114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141464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87184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0.237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4  ·  FP-GROWTH FREQUENT PATTERN MINING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566928"/>
            <a:ext cx="3246120" cy="4315968"/>
          </a:xfrm>
          <a:prstGeom prst="rect">
            <a:avLst/>
          </a:prstGeom>
          <a:solidFill>
            <a:srgbClr val="1A1F2E"/>
          </a:solidFill>
          <a:ln w="19050">
            <a:solidFill>
              <a:srgbClr val="A8FF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8580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FP-Growth?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11480" y="969264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co-occurring grid conditions without a predefined target. Prefix-tree is faster than Apriori. Reveals which emission level + demand + time-of-day + event combinations co-occur most.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2048256"/>
            <a:ext cx="2971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Discretized: MOER/demand (median), time (quartile)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min_support=0.30, min_confidence=0.60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frequent itemsets, 34 association rules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907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Rule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3200400"/>
            <a:ext cx="2971800" cy="822960"/>
          </a:xfrm>
          <a:prstGeom prst="rect">
            <a:avLst/>
          </a:prstGeom>
          <a:solidFill>
            <a:srgbClr val="0A1A0A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788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{off_peak}</a:t>
            </a:r>
            <a:pPr algn="ctr" indent="0" marL="0">
              <a:buNone/>
            </a:pPr>
            <a:r>
              <a:rPr lang="en-US" sz="130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{high_demand}</a:t>
            </a:r>
            <a:pPr algn="ctr" indent="0" marL="0">
              <a:buNone/>
            </a:pPr>
            <a:endParaRPr lang="en-US" sz="13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= 1.77  ·  Conf = 0.88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411480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states → high_moer+weekday rules (lift≈1.3)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11880" y="566928"/>
            <a:ext cx="5257800" cy="3246120"/>
          </a:xfrm>
          <a:prstGeom prst="rect">
            <a:avLst/>
          </a:prstGeom>
          <a:solidFill>
            <a:srgbClr val="1A1F2E"/>
          </a:solidFill>
          <a:ln w="10160">
            <a:solidFill>
              <a:srgbClr val="2A3048"/>
            </a:solidFill>
            <a:prstDash val="solid"/>
          </a:ln>
        </p:spPr>
      </p:sp>
      <p:pic>
        <p:nvPicPr>
          <p:cNvPr id="15" name="Image 0" descr="/sessions/zealous-funny-noether/mnt/Data Mining Project/figures/model_04_fp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9312" y="594360"/>
            <a:ext cx="5202936" cy="319125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611880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A8FF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0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Rules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376672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22392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1.77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Lift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7141464" y="3904488"/>
            <a:ext cx="1673352" cy="932688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87184" y="3950208"/>
            <a:ext cx="15819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220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Confidence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&amp; PERFORMANCE SUMMARY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21792"/>
          <a:ext cx="8503920" cy="4023360"/>
        </p:xfrm>
        <a:graphic>
          <a:graphicData uri="http://schemas.openxmlformats.org/drawingml/2006/table">
            <a:tbl>
              <a:tblPr/>
              <a:tblGrid>
                <a:gridCol w="1371600"/>
                <a:gridCol w="1417320"/>
                <a:gridCol w="1691640"/>
                <a:gridCol w="1508760"/>
                <a:gridCol w="251460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6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/ DBI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D9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0.584 / 0.632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distinct grid state archetypes discovered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 / F1 / AUC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6B3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 / 0.31 / 0.65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→ modest signal; AUC&gt;0.5 confirmed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208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/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105.4 / 0.237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 alone explains only 24% of MOER variance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2E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F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FP-Growth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CA9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 Patterns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Lift /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A8FF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1.77 / 34 rules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0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8ED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Off-peak ↔ high-demand association (CAISO pattern)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04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40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66344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LR AUC=0.65 on just 23 events confirms demand-side features carry real predictive signal for emission-level classification.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233672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58368"/>
            <a:ext cx="530352" cy="201168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5272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7863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Distinct Grid States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170432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reveals High-Stress, High-Emit, High-Demand, and Low-Carbon archetypes. Low-Carbon cluster has 36% event overlap — the CAISO heat wave drove a renewable surge despite record demand.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36592" y="658368"/>
            <a:ext cx="4233672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36592" y="658368"/>
            <a:ext cx="530352" cy="2011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6592" y="125272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76672" y="78638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Signals Emissions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76672" y="1170432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(CV AUC=0.65, 23 events) confirms demand-side features carry real predictive signal for high-emission events. Demand range and event duration are the strongest coefficients.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807208"/>
            <a:ext cx="4233672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807208"/>
            <a:ext cx="530352" cy="2011680"/>
          </a:xfrm>
          <a:prstGeom prst="rect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0156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93522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Dynamics Dominate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19272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R²=0.237 validates that demand alone explains only 24% of MOER variance. Event residuals show systematic over-prediction, proving hazardous events alter the demand–carbon curve.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36592" y="2807208"/>
            <a:ext cx="4233672" cy="2011680"/>
          </a:xfrm>
          <a:prstGeom prst="rect">
            <a:avLst/>
          </a:prstGeom>
          <a:solidFill>
            <a:srgbClr val="1A1F2E"/>
          </a:solidFill>
          <a:ln w="19050">
            <a:solidFill>
              <a:srgbClr val="A8FF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36592" y="2807208"/>
            <a:ext cx="530352" cy="2011680"/>
          </a:xfrm>
          <a:prstGeom prst="rect">
            <a:avLst/>
          </a:prstGeom>
          <a:solidFill>
            <a:srgbClr val="A8FF78"/>
          </a:solidFill>
          <a:ln w="12700">
            <a:solidFill>
              <a:srgbClr val="A8FF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3401568"/>
            <a:ext cx="5303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76672" y="2935224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Off-Peak ↔ High Demand Pattern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76672" y="3319272"/>
            <a:ext cx="3493008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FP-Growth: {off_peak} → {high_demand} (lift=1.77, conf=0.88) reflects CAISO’s overnight industrial load. Event states link to high_moer+weekday combinations (lift≈1.3), consistent across clustering and FPM.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41824"/>
          </a:solidFill>
          <a:ln w="6350">
            <a:solidFill>
              <a:srgbClr val="2A30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8288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 (MILESTONE 4 ROADMAP)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53712" y="566928"/>
            <a:ext cx="36576" cy="4343400"/>
          </a:xfrm>
          <a:prstGeom prst="rect">
            <a:avLst/>
          </a:prstGeom>
          <a:solidFill>
            <a:srgbClr val="2A3048"/>
          </a:solidFill>
          <a:ln w="12700">
            <a:solidFill>
              <a:srgbClr val="2A30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54880" y="5943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ROADMAP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914400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18-Day Window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261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heat-wave event observed. Full 2019–2026 coverage pending WattTime API expansion.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883664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Event Sample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31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events limits classification power. More events needed for stable CV.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852928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cannot capture non-linear event–demand–MOER dynamics.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822192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Discretization Sensitivity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41696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rules depend on binning choices; median-split partially mitigates this.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00D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978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TimeSeriesSplit CV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12618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proper time-series cross-validation for honest out-of-sample evaluation.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1883664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19476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/ LightGBM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223113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linear regression with gradient boosting for non-linear event dynamics.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2852928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00D9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Event Coverage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32004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PSPS and winter demand spikes across CAISO, PSCO, ERCOT regions.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822192"/>
            <a:ext cx="4114800" cy="859536"/>
          </a:xfrm>
          <a:prstGeom prst="rect">
            <a:avLst/>
          </a:prstGeom>
          <a:solidFill>
            <a:srgbClr val="1A1F2E"/>
          </a:solidFill>
          <a:ln w="762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886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92040" y="41696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values to quantify per-feature contributions at event level.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840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786384"/>
            <a:ext cx="768096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 grid events leave measurable, distinct,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detectable signatures on the electricity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grid’s carbon intensity profile.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1920240" cy="713232"/>
          </a:xfrm>
          <a:prstGeom prst="rect">
            <a:avLst/>
          </a:prstGeom>
          <a:solidFill>
            <a:srgbClr val="0A0E1A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871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0.584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2487168"/>
            <a:ext cx="1920240" cy="713232"/>
          </a:xfrm>
          <a:prstGeom prst="rect">
            <a:avLst/>
          </a:prstGeom>
          <a:solidFill>
            <a:srgbClr val="0A0E1A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24871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Reg.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2487168"/>
            <a:ext cx="1920240" cy="713232"/>
          </a:xfrm>
          <a:prstGeom prst="rect">
            <a:avLst/>
          </a:prstGeom>
          <a:solidFill>
            <a:srgbClr val="0A0E1A"/>
          </a:solidFill>
          <a:ln w="19050">
            <a:solidFill>
              <a:srgbClr val="FFD2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24871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Reg.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0.237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2487168"/>
            <a:ext cx="1920240" cy="713232"/>
          </a:xfrm>
          <a:prstGeom prst="rect">
            <a:avLst/>
          </a:prstGeom>
          <a:solidFill>
            <a:srgbClr val="0A0E1A"/>
          </a:solidFill>
          <a:ln w="19050">
            <a:solidFill>
              <a:srgbClr val="A8FF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2487168"/>
            <a:ext cx="19202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F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</a:t>
            </a:r>
            <a:endParaRPr lang="en-US" sz="100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E8ED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1.77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35584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1520" y="4078224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Moulik Kumar  ·  Atharva Zodpe  ·  Pratik Patil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4535424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A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4  ·  Data Mining  ·  University of Colorado Boulder  ·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Grid Resilience &amp; Carbon Analytics — Milestone 3</dc:title>
  <dc:subject>PptxGenJS Presentation</dc:subject>
  <dc:creator>PptxGenJS</dc:creator>
  <cp:lastModifiedBy>PptxGenJS</cp:lastModifiedBy>
  <cp:revision>1</cp:revision>
  <dcterms:created xsi:type="dcterms:W3CDTF">2026-04-14T04:16:04Z</dcterms:created>
  <dcterms:modified xsi:type="dcterms:W3CDTF">2026-04-14T04:16:04Z</dcterms:modified>
</cp:coreProperties>
</file>