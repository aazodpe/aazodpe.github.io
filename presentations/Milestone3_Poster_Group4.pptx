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418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8229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3657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Resilience &amp; Carbon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" y="40233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Characterizing Electricity Demand &amp; Marginal CO₂ Emissions During Hazardous Grid Events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0" y="914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4  •  Moulik Kumar  •  Atharva Zodpe  •  Pratik Patil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0" y="34747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6D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Mining  •  University of Colorado Boulder  •  Milestone 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" y="932688"/>
            <a:ext cx="2788920" cy="5029200"/>
          </a:xfrm>
          <a:prstGeom prst="rect">
            <a:avLst/>
          </a:prstGeom>
          <a:solidFill>
            <a:srgbClr val="1A1F2E"/>
          </a:solidFill>
          <a:ln w="6350">
            <a:solidFill>
              <a:srgbClr val="1E2C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24128"/>
            <a:ext cx="1234440" cy="201168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82880" y="1261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Clustering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7276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CHOSEN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2880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distinct grid operational archetypes (Low-Carbon, High-Stress, High-Emit, High-Demand) from unlabelled time-series without requiring event labels. K-Means chosen for interpretable centroids on numeric features.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2880" y="259689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82880" y="2761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swept 2–8, silhouette max → k=4; n_init=20; StandardScaler applied</a:t>
            </a:r>
            <a:endParaRPr lang="en-US" sz="750" dirty="0"/>
          </a:p>
        </p:txBody>
      </p:sp>
      <p:pic>
        <p:nvPicPr>
          <p:cNvPr id="16" name="Image 0" descr="/sessions/zealous-funny-noether/mnt/Data Mining Project/figures/model_01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218688"/>
            <a:ext cx="2606040" cy="14630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82880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2880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0.584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82880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1066800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6800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66800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DBI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950720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50720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950720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2990088" y="932688"/>
            <a:ext cx="2788920" cy="5029200"/>
          </a:xfrm>
          <a:prstGeom prst="rect">
            <a:avLst/>
          </a:prstGeom>
          <a:solidFill>
            <a:srgbClr val="1A1F2E"/>
          </a:solidFill>
          <a:ln w="6350">
            <a:solidFill>
              <a:srgbClr val="1E2C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081528" y="1024128"/>
            <a:ext cx="123444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81528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081528" y="1261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081528" y="157276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CHOSEN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081528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time windows as event vs. normal periods with balanced class weighting. Random Forest handles non-linear demand-MOER interactions and provides feature importance scores answering which signals predict hazardous events.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081528" y="259689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081528" y="2761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GridSearchCV: n_estimators∈{100,200}, max_depth∈{5,10,None}; best: 200/10</a:t>
            </a:r>
            <a:endParaRPr lang="en-US" sz="750" dirty="0"/>
          </a:p>
        </p:txBody>
      </p:sp>
      <p:pic>
        <p:nvPicPr>
          <p:cNvPr id="34" name="Image 1" descr="/sessions/zealous-funny-noether/mnt/Data Mining Project/figures/model_02_classif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3218688"/>
            <a:ext cx="2606040" cy="146304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3081528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081528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3081528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3965448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965448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3965448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700" dirty="0"/>
          </a:p>
        </p:txBody>
      </p:sp>
      <p:sp>
        <p:nvSpPr>
          <p:cNvPr id="41" name="Shape 37"/>
          <p:cNvSpPr/>
          <p:nvPr/>
        </p:nvSpPr>
        <p:spPr>
          <a:xfrm>
            <a:off x="4849368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49368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4849368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700" dirty="0"/>
          </a:p>
        </p:txBody>
      </p:sp>
      <p:sp>
        <p:nvSpPr>
          <p:cNvPr id="44" name="Shape 40"/>
          <p:cNvSpPr/>
          <p:nvPr/>
        </p:nvSpPr>
        <p:spPr>
          <a:xfrm>
            <a:off x="5888736" y="932688"/>
            <a:ext cx="2788920" cy="5029200"/>
          </a:xfrm>
          <a:prstGeom prst="rect">
            <a:avLst/>
          </a:prstGeom>
          <a:solidFill>
            <a:srgbClr val="1A1F2E"/>
          </a:solidFill>
          <a:ln w="6350">
            <a:solidFill>
              <a:srgbClr val="1E2C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5980176" y="1024128"/>
            <a:ext cx="1234440" cy="201168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980176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</a:t>
            </a:r>
            <a:endParaRPr lang="en-US" sz="700" dirty="0"/>
          </a:p>
        </p:txBody>
      </p:sp>
      <p:sp>
        <p:nvSpPr>
          <p:cNvPr id="47" name="Text 43"/>
          <p:cNvSpPr/>
          <p:nvPr/>
        </p:nvSpPr>
        <p:spPr>
          <a:xfrm>
            <a:off x="5980176" y="1261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5980176" y="157276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CHOSEN</a:t>
            </a:r>
            <a:endParaRPr lang="en-US" sz="700" dirty="0"/>
          </a:p>
        </p:txBody>
      </p:sp>
      <p:sp>
        <p:nvSpPr>
          <p:cNvPr id="49" name="Text 45"/>
          <p:cNvSpPr/>
          <p:nvPr/>
        </p:nvSpPr>
        <p:spPr>
          <a:xfrm>
            <a:off x="5980176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the baseline demand–emissions relationship and identifies its limitations. OLS coefficients reveal MOER drivers; residuals expose where the linear assumption breaks down during events.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5980176" y="259689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HYPERPARAMETERS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5980176" y="2761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OLS (no regularisation); event indicator added after residual inspection</a:t>
            </a:r>
            <a:endParaRPr lang="en-US" sz="750" dirty="0"/>
          </a:p>
        </p:txBody>
      </p:sp>
      <p:pic>
        <p:nvPicPr>
          <p:cNvPr id="52" name="Image 2" descr="/sessions/zealous-funny-noether/mnt/Data Mining Project/figures/model_03_regres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3218688"/>
            <a:ext cx="2606040" cy="1463040"/>
          </a:xfrm>
          <a:prstGeom prst="rect">
            <a:avLst/>
          </a:prstGeom>
        </p:spPr>
      </p:pic>
      <p:sp>
        <p:nvSpPr>
          <p:cNvPr id="53" name="Shape 48"/>
          <p:cNvSpPr/>
          <p:nvPr/>
        </p:nvSpPr>
        <p:spPr>
          <a:xfrm>
            <a:off x="5980176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5980176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105.4</a:t>
            </a:r>
            <a:endParaRPr lang="en-US" sz="1800" dirty="0"/>
          </a:p>
        </p:txBody>
      </p:sp>
      <p:sp>
        <p:nvSpPr>
          <p:cNvPr id="55" name="Text 50"/>
          <p:cNvSpPr/>
          <p:nvPr/>
        </p:nvSpPr>
        <p:spPr>
          <a:xfrm>
            <a:off x="5980176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700" dirty="0"/>
          </a:p>
        </p:txBody>
      </p:sp>
      <p:sp>
        <p:nvSpPr>
          <p:cNvPr id="56" name="Shape 51"/>
          <p:cNvSpPr/>
          <p:nvPr/>
        </p:nvSpPr>
        <p:spPr>
          <a:xfrm>
            <a:off x="6864096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864096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11,114</a:t>
            </a:r>
            <a:endParaRPr lang="en-US" sz="1800" dirty="0"/>
          </a:p>
        </p:txBody>
      </p:sp>
      <p:sp>
        <p:nvSpPr>
          <p:cNvPr id="58" name="Text 53"/>
          <p:cNvSpPr/>
          <p:nvPr/>
        </p:nvSpPr>
        <p:spPr>
          <a:xfrm>
            <a:off x="6864096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</a:t>
            </a:r>
            <a:endParaRPr lang="en-US" sz="700" dirty="0"/>
          </a:p>
        </p:txBody>
      </p:sp>
      <p:sp>
        <p:nvSpPr>
          <p:cNvPr id="59" name="Shape 54"/>
          <p:cNvSpPr/>
          <p:nvPr/>
        </p:nvSpPr>
        <p:spPr>
          <a:xfrm>
            <a:off x="7748016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7748016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0.237</a:t>
            </a:r>
            <a:endParaRPr lang="en-US" sz="1800" dirty="0"/>
          </a:p>
        </p:txBody>
      </p:sp>
      <p:sp>
        <p:nvSpPr>
          <p:cNvPr id="61" name="Text 56"/>
          <p:cNvSpPr/>
          <p:nvPr/>
        </p:nvSpPr>
        <p:spPr>
          <a:xfrm>
            <a:off x="7748016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8787384" y="932688"/>
            <a:ext cx="2788920" cy="5029200"/>
          </a:xfrm>
          <a:prstGeom prst="rect">
            <a:avLst/>
          </a:prstGeom>
          <a:solidFill>
            <a:srgbClr val="1A1F2E"/>
          </a:solidFill>
          <a:ln w="6350">
            <a:solidFill>
              <a:srgbClr val="1E2C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8878824" y="1024128"/>
            <a:ext cx="1234440" cy="201168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8878824" y="1024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FREQ. PATTERNS</a:t>
            </a:r>
            <a:endParaRPr lang="en-US" sz="700" dirty="0"/>
          </a:p>
        </p:txBody>
      </p:sp>
      <p:sp>
        <p:nvSpPr>
          <p:cNvPr id="65" name="Text 60"/>
          <p:cNvSpPr/>
          <p:nvPr/>
        </p:nvSpPr>
        <p:spPr>
          <a:xfrm>
            <a:off x="8878824" y="12618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FP-Growth Assoc. Rules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8878824" y="1572768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CHOSEN</a:t>
            </a:r>
            <a:endParaRPr lang="en-US" sz="700" dirty="0"/>
          </a:p>
        </p:txBody>
      </p:sp>
      <p:sp>
        <p:nvSpPr>
          <p:cNvPr id="67" name="Text 62"/>
          <p:cNvSpPr/>
          <p:nvPr/>
        </p:nvSpPr>
        <p:spPr>
          <a:xfrm>
            <a:off x="8878824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frequent co-occurrence patterns across discretised grid states (demand level, MOER level, time-of-day, event period). Reveals operational associations without a target variable.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8878824" y="2596896"/>
            <a:ext cx="2606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HYPERPARAMETERS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8878824" y="27614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min_support swept 0.30→0.05; min_confidence=0.60; best: sup=0.30</a:t>
            </a:r>
            <a:endParaRPr lang="en-US" sz="750" dirty="0"/>
          </a:p>
        </p:txBody>
      </p:sp>
      <p:pic>
        <p:nvPicPr>
          <p:cNvPr id="70" name="Image 3" descr="/sessions/zealous-funny-noether/mnt/Data Mining Project/figures/model_04_fp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3218688"/>
            <a:ext cx="2606040" cy="1463040"/>
          </a:xfrm>
          <a:prstGeom prst="rect">
            <a:avLst/>
          </a:prstGeom>
        </p:spPr>
      </p:pic>
      <p:sp>
        <p:nvSpPr>
          <p:cNvPr id="71" name="Shape 65"/>
          <p:cNvSpPr/>
          <p:nvPr/>
        </p:nvSpPr>
        <p:spPr>
          <a:xfrm>
            <a:off x="8878824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72" name="Text 66"/>
          <p:cNvSpPr/>
          <p:nvPr/>
        </p:nvSpPr>
        <p:spPr>
          <a:xfrm>
            <a:off x="8878824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800" dirty="0"/>
          </a:p>
        </p:txBody>
      </p:sp>
      <p:sp>
        <p:nvSpPr>
          <p:cNvPr id="73" name="Text 67"/>
          <p:cNvSpPr/>
          <p:nvPr/>
        </p:nvSpPr>
        <p:spPr>
          <a:xfrm>
            <a:off x="8878824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700" dirty="0"/>
          </a:p>
        </p:txBody>
      </p:sp>
      <p:sp>
        <p:nvSpPr>
          <p:cNvPr id="74" name="Shape 68"/>
          <p:cNvSpPr/>
          <p:nvPr/>
        </p:nvSpPr>
        <p:spPr>
          <a:xfrm>
            <a:off x="9762744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9762744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1.77</a:t>
            </a:r>
            <a:endParaRPr lang="en-US" sz="1800" dirty="0"/>
          </a:p>
        </p:txBody>
      </p:sp>
      <p:sp>
        <p:nvSpPr>
          <p:cNvPr id="76" name="Text 70"/>
          <p:cNvSpPr/>
          <p:nvPr/>
        </p:nvSpPr>
        <p:spPr>
          <a:xfrm>
            <a:off x="9762744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Lift</a:t>
            </a:r>
            <a:endParaRPr lang="en-US" sz="700" dirty="0"/>
          </a:p>
        </p:txBody>
      </p:sp>
      <p:sp>
        <p:nvSpPr>
          <p:cNvPr id="77" name="Shape 71"/>
          <p:cNvSpPr/>
          <p:nvPr/>
        </p:nvSpPr>
        <p:spPr>
          <a:xfrm>
            <a:off x="10646664" y="4754880"/>
            <a:ext cx="838200" cy="566928"/>
          </a:xfrm>
          <a:prstGeom prst="rect">
            <a:avLst/>
          </a:prstGeom>
          <a:solidFill>
            <a:srgbClr val="141824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78" name="Text 72"/>
          <p:cNvSpPr/>
          <p:nvPr/>
        </p:nvSpPr>
        <p:spPr>
          <a:xfrm>
            <a:off x="10646664" y="4800600"/>
            <a:ext cx="838200" cy="3118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</a:t>
            </a:r>
            <a:endParaRPr lang="en-US" sz="1800" dirty="0"/>
          </a:p>
        </p:txBody>
      </p:sp>
      <p:sp>
        <p:nvSpPr>
          <p:cNvPr id="79" name="Text 73"/>
          <p:cNvSpPr/>
          <p:nvPr/>
        </p:nvSpPr>
        <p:spPr>
          <a:xfrm>
            <a:off x="10646664" y="5049683"/>
            <a:ext cx="838200" cy="255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Conf.</a:t>
            </a:r>
            <a:endParaRPr lang="en-US" sz="700" dirty="0"/>
          </a:p>
        </p:txBody>
      </p:sp>
      <p:sp>
        <p:nvSpPr>
          <p:cNvPr id="80" name="Shape 74"/>
          <p:cNvSpPr/>
          <p:nvPr/>
        </p:nvSpPr>
        <p:spPr>
          <a:xfrm>
            <a:off x="0" y="6419088"/>
            <a:ext cx="12161520" cy="438912"/>
          </a:xfrm>
          <a:prstGeom prst="rect">
            <a:avLst/>
          </a:prstGeom>
          <a:solidFill>
            <a:srgbClr val="141824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0" y="6419088"/>
            <a:ext cx="64008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182880" y="645566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QUESTION</a:t>
            </a:r>
            <a:endParaRPr lang="en-US" sz="650" dirty="0"/>
          </a:p>
        </p:txBody>
      </p:sp>
      <p:sp>
        <p:nvSpPr>
          <p:cNvPr id="83" name="Text 77"/>
          <p:cNvSpPr/>
          <p:nvPr/>
        </p:nvSpPr>
        <p:spPr>
          <a:xfrm>
            <a:off x="182880" y="6601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hazardous grid events be characterized by distinct electricity demand &amp; marginal CO₂ emission profiles using time-resolved grid data?</a:t>
            </a:r>
            <a:endParaRPr lang="en-US" sz="800" dirty="0"/>
          </a:p>
        </p:txBody>
      </p:sp>
      <p:sp>
        <p:nvSpPr>
          <p:cNvPr id="84" name="Text 78"/>
          <p:cNvSpPr/>
          <p:nvPr/>
        </p:nvSpPr>
        <p:spPr>
          <a:xfrm>
            <a:off x="5394960" y="645566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</a:t>
            </a:r>
            <a:endParaRPr lang="en-US" sz="650" dirty="0"/>
          </a:p>
        </p:txBody>
      </p:sp>
      <p:sp>
        <p:nvSpPr>
          <p:cNvPr id="85" name="Text 79"/>
          <p:cNvSpPr/>
          <p:nvPr/>
        </p:nvSpPr>
        <p:spPr>
          <a:xfrm>
            <a:off x="5394960" y="660196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WattTime MOER + EIA-930 Demand • Aug 8–25, 2024 • 1,725 observations @ 15-min • CAISO region</a:t>
            </a:r>
            <a:endParaRPr lang="en-US" sz="800" dirty="0"/>
          </a:p>
        </p:txBody>
      </p:sp>
      <p:sp>
        <p:nvSpPr>
          <p:cNvPr id="86" name="Text 80"/>
          <p:cNvSpPr/>
          <p:nvPr/>
        </p:nvSpPr>
        <p:spPr>
          <a:xfrm>
            <a:off x="9601200" y="652881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6D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github.com/aazodpe/aazodpe.github.io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Resilience &amp; Carbon Analytics — Milestone 3</dc:title>
  <dc:subject>PptxGenJS Presentation</dc:subject>
  <dc:creator>Group 4</dc:creator>
  <cp:lastModifiedBy>Group 4</cp:lastModifiedBy>
  <cp:revision>1</cp:revision>
  <dcterms:created xsi:type="dcterms:W3CDTF">2026-04-12T00:18:52Z</dcterms:created>
  <dcterms:modified xsi:type="dcterms:W3CDTF">2026-04-12T00:18:52Z</dcterms:modified>
</cp:coreProperties>
</file>