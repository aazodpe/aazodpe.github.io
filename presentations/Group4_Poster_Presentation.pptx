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2942"/>
          </a:solidFill>
          <a:ln cap="flat" cmpd="sng" w="12700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20040" y="20116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GROUP 4  ·  CSCI 5502  ·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" y="59436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Grid Resilience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Carbon Analytics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2011680"/>
            <a:ext cx="4389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Characterizing Electricity Demand 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Marginal CO₂ Emissions During Hazardous Grid 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040" y="2926080"/>
            <a:ext cx="164592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20040" y="30632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0040" y="3364992"/>
            <a:ext cx="4343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Hazardous grid events — PSPS, extreme heat, equipment failures — force utilities to activate carbon-intensive peakers, spiking marginal CO₂ emissions 15–40%.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This cost is invisible in annual averages. We build the first reproducible pipeline to couple demand and emissions analysis across 52 documented events (2019–2026).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20040" y="4892040"/>
            <a:ext cx="1417320" cy="9601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65760" y="491947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B703"/>
                </a:solidFill>
                <a:latin typeface="Georgia"/>
                <a:ea typeface="Georgia"/>
                <a:cs typeface="Georgia"/>
                <a:sym typeface="Georgia"/>
              </a:rPr>
              <a:t>3.5M+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65760" y="532180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Customers affected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by PSPS (2019–24)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901952" y="4892040"/>
            <a:ext cx="1417320" cy="9601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947672" y="491947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B703"/>
                </a:solidFill>
                <a:latin typeface="Georgia"/>
                <a:ea typeface="Georgia"/>
                <a:cs typeface="Georgia"/>
                <a:sym typeface="Georgia"/>
              </a:rPr>
              <a:t>42%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947672" y="532180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Increase 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grid disruptions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483864" y="4892040"/>
            <a:ext cx="1417320" cy="9601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529584" y="491947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B703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529584" y="532180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Emissions spike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during events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20040" y="5989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320040" y="6199632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Moulik Kumar · Atharva Zodpe · Pratik Patil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20040" y="644652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🌐 aazodpe.github.io   |   github.com/aazodpe/aazodpe.github.io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349240" y="228600"/>
            <a:ext cx="6492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CORE RESEARCH QUESTION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349240" y="521208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Can hazardous grid events be automatically characterized by distinct electricity demand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marginal CO₂ emission profiles using publicly available, high-resolution data?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349240" y="1325880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349240" y="1627632"/>
            <a:ext cx="1536192" cy="137160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394960" y="167335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394960" y="202996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WattTime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394960" y="2286000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5–15 min MOER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(lbs CO₂/MWh)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CAISO region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995160" y="1627632"/>
            <a:ext cx="1536192" cy="137160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040880" y="167335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040880" y="202996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EIA-930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040880" y="2286000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Hourly electricity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demand (MW)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2019–2026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641080" y="1627632"/>
            <a:ext cx="1536192" cy="137160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686800" y="167335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686800" y="202996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Event Catalog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686800" y="2286000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52 hazardous events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PSPS · weather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equipment failures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0287000" y="1627632"/>
            <a:ext cx="1536192" cy="137160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0332720" y="167335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0332720" y="202996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0332720" y="2286000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Rolling stats · lag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features · deviation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baselines · encoding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349240" y="3127248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349240" y="3429000"/>
            <a:ext cx="3090672" cy="749808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440680" y="3502152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897880" y="350215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construction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897880" y="3749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Seasonal matching + moving avg + ML-predicted baselines — triangulated for robustness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595360" y="3429000"/>
            <a:ext cx="3090672" cy="749808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686800" y="3502152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144000" y="350215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144000" y="3749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Peak magnitude · duration · volatility · recovery · coupling coefficients per event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349240" y="4297680"/>
            <a:ext cx="3090672" cy="749808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440680" y="4370832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897880" y="43708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 &amp; pattern mining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897880" y="4617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K-Means archetypes + FP-Growth co-occurrence rules across 1,725 observations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595360" y="4297680"/>
            <a:ext cx="3090672" cy="749808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686800" y="4370832"/>
            <a:ext cx="411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144000" y="437083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144000" y="4617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Logistic + Linear regression to quantify predictive signal and demand–MOER decoupling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349240" y="5138928"/>
            <a:ext cx="15361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6D6A0"/>
                </a:solidFill>
                <a:latin typeface="Georgia"/>
                <a:ea typeface="Georgia"/>
                <a:cs typeface="Georgia"/>
                <a:sym typeface="Georgia"/>
              </a:rPr>
              <a:t>2.1M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349240" y="5532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Records post-cleaning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995160" y="5138928"/>
            <a:ext cx="15361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6D6A0"/>
                </a:solidFill>
                <a:latin typeface="Georgia"/>
                <a:ea typeface="Georgia"/>
                <a:cs typeface="Georgia"/>
                <a:sym typeface="Georgia"/>
              </a:rPr>
              <a:t>96.8%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995160" y="5532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Data completeness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641080" y="5138928"/>
            <a:ext cx="15361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6D6A0"/>
                </a:solidFill>
                <a:latin typeface="Georgia"/>
                <a:ea typeface="Georgia"/>
                <a:cs typeface="Georgia"/>
                <a:sym typeface="Georgia"/>
              </a:rPr>
              <a:t>52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641080" y="5532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Validated events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287000" y="5138928"/>
            <a:ext cx="15361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6D6A0"/>
                </a:solidFill>
                <a:latin typeface="Georgia"/>
                <a:ea typeface="Georgia"/>
                <a:cs typeface="Georgia"/>
                <a:sym typeface="Georgia"/>
              </a:rPr>
              <a:t>15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287000" y="553212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Per 15-min observation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0" y="6492240"/>
            <a:ext cx="713232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029200" y="6565392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Data Mining · CSCI 5502 · University of Colorado Boulder · Spring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65760" y="1371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CHALLENGES IN DATA COLLECTION, PROCESSING &amp; MODELING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778240" y="13716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Milestones 2 &amp;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" y="54864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 COLLECTION &amp;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0040" y="868680"/>
            <a:ext cx="530352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65760" y="978408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96112" y="96012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Multi-resolution alignment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96112" y="1207008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WattTime at 5–15 min vs. EIA-930 at hourly — demanded resampling, forward-fill, and uniform 15-min UTC indexing across both streams without losing event signal.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" y="1947672"/>
            <a:ext cx="530352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65760" y="205740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96112" y="203911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Missing &amp; corrupt values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96112" y="2286000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3.2% missing demand, 1.8% missing MOER. Forward-fill for &lt;30 min gaps; linear interpolation for 30 min–2 hr; 142 negative demand values and 28 physically impossible emissions corrected.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0040" y="3026664"/>
            <a:ext cx="530352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65760" y="313639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96112" y="3118104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No API for hazardous events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96112" y="3364992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Hand-compiled 52 events from CPUC filings, NOAA alerts, utility press releases. PDF extraction + cross-validation against news archives. High labor, irreplaceable for event-level labels.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20040" y="4105656"/>
            <a:ext cx="530352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65760" y="4215384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96112" y="419709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Baseline construction complexity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96112" y="4443984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Three parallel strategies required — seasonal matching, moving average, and ML-based prediction — to triangulate event impact without attributing normal seasonal variation to events.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943600" y="5486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MODELING 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943600" y="868680"/>
            <a:ext cx="365760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989320" y="978408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73952" y="96012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K-Means: limited temporal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473952" y="1207008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18-day window anchors clusters to single heat-wave episode. Mitigated by weighting hour + is_weekend alongside instantaneous readings.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43600" y="1947672"/>
            <a:ext cx="365760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989320" y="205740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473952" y="2039112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Logistic Reg: tiny event sample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73952" y="2286000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Only 23 event-level records. 5-fold CV folds have ~5 samples each — accuracy is volatile. ROC-AUC (0.65) prioritized as the stable ranking metric.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943600" y="3026664"/>
            <a:ext cx="365760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989320" y="3136392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473952" y="3118104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Linear Reg: OLS vs. non-linearity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73952" y="3364992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Emergency dispatch breaks the merit-order demand–MOER curve. is_event indicator added iteratively; low R²=0.237 treated as the finding, not a failure.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943600" y="4105656"/>
            <a:ext cx="3657600" cy="969264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989320" y="4215384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🌳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473952" y="4197096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FP-Growth: event period too rare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73952" y="4443984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Event windows are only 22.3% of obs (support &lt; 0.30). Event rules present but below top-10 lift. min_support not artificially lowered.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20040" y="5321808"/>
            <a:ext cx="9281160" cy="1207008"/>
          </a:xfrm>
          <a:prstGeom prst="rect">
            <a:avLst/>
          </a:prstGeom>
          <a:solidFill>
            <a:srgbClr val="061520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20040" y="5321808"/>
            <a:ext cx="54864" cy="1207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21208" y="5376672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WHAT THESE CHALLENGES REVEALED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48640" y="56509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Two granularities, two datasets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48640" y="5888736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15-min time-series (1,725 rows) for clustering &amp; regression; 23-row event-level CSV for classification. Same project, two fundamentally different analytical units.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630168" y="56509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📉  Low R² = the signal, not noise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30168" y="5888736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OLS explains only 23.7% of MOER — intentionally. Emergency dispatch overrides the normal demand–carbon curve. Richer features (fuel mix, weather) are the Milestone 4 extension.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711696" y="56509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🔬  Event rarity limits supervised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711696" y="5888736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52 events over 7 years → only 23 usable for event-level ML. The small-n constraint drove every pipeline decision: stratified CV, balanced classes, AUC over accuracy.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921240" y="5486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CODE HIGHLIGHT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921240" y="868680"/>
            <a:ext cx="1920240" cy="310896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9966960" y="89611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7A91A8"/>
                </a:solidFill>
                <a:latin typeface="Consolas"/>
                <a:ea typeface="Consolas"/>
                <a:cs typeface="Consolas"/>
                <a:sym typeface="Consolas"/>
              </a:rPr>
              <a:t># K-Means sweep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966960" y="103784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for k in range(2, 9):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966960" y="117957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km = KMeans(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966960" y="13213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  n_clusters=k,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9966960" y="146304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  n_init=10)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966960" y="16047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sil.append(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966960" y="174650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silhouette_score(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966960" y="188823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    X_sc, labels))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966960" y="202996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9966960" y="21717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7A91A8"/>
                </a:solidFill>
                <a:latin typeface="Consolas"/>
                <a:ea typeface="Consolas"/>
                <a:cs typeface="Consolas"/>
                <a:sym typeface="Consolas"/>
              </a:rPr>
              <a:t># Best k=4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966960" y="231343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best_k = range(2,9)[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966960" y="245516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np.argmax(sil)]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966960" y="259689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966960" y="273862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7A91A8"/>
                </a:solidFill>
                <a:latin typeface="Consolas"/>
                <a:ea typeface="Consolas"/>
                <a:cs typeface="Consolas"/>
                <a:sym typeface="Consolas"/>
              </a:rPr>
              <a:t># FP-Growth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966960" y="288036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freq = fpgrowth(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966960" y="30220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te_df,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966960" y="316382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min_support=0.30)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966960" y="330555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rules = assoc_rules(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966960" y="34472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freq,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9966960" y="35890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metric='confidence',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966960" y="373075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min_threshold=0.60)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9921240" y="4096512"/>
            <a:ext cx="1920240" cy="196596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9966960" y="41330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7A91A8"/>
                </a:solidFill>
                <a:latin typeface="Consolas"/>
                <a:ea typeface="Consolas"/>
                <a:cs typeface="Consolas"/>
                <a:sym typeface="Consolas"/>
              </a:rPr>
              <a:t># Logistic pipeline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9966960" y="427939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pipe = Pipeline([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9966960" y="442569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('imp', SimpleImputer()),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966960" y="45720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('sc', StandardScaler()),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9966960" y="471830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('clf', LogisticRegression(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9966960" y="48646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 class_weight='balanced',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9966960" y="501091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   max_iter=1000))])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9966960" y="517550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# CV ROC-AUC = 0.65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9966960" y="53218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cv = StratifiedKFold(5)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9966960" y="546811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C8D6E5"/>
                </a:solidFill>
                <a:latin typeface="Consolas"/>
                <a:ea typeface="Consolas"/>
                <a:cs typeface="Consolas"/>
                <a:sym typeface="Consolas"/>
              </a:rPr>
              <a:t>cross_validate(pipe,X,y)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0" y="6656832"/>
            <a:ext cx="12161520" cy="36576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0" y="6720840"/>
            <a:ext cx="1216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Grid Resilience &amp; Carbon Analytics  ·  Group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65760" y="1371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RESULTS &amp; KEY LESSONS LEARNED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778240" y="13716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Milestones 3 &amp;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20040" y="54864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PERFORMANCE 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20040" y="841248"/>
            <a:ext cx="2697480" cy="2176272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20040" y="841248"/>
            <a:ext cx="26974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11480" y="896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11480" y="10972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1148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1148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Silhouette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148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0.584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173736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173736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Davies-Bouldin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73736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0.632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11480" y="2011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4 grid archetypes: High-Stress · High-Emit · High-Demand · Low-Carbon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200400" y="841248"/>
            <a:ext cx="2697480" cy="2176272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3200400" y="841248"/>
            <a:ext cx="2697480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291840" y="896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291840" y="10972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29184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29184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CV ROC-AUC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29184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6D6A0"/>
                </a:solidFill>
                <a:latin typeface="Georgia"/>
                <a:ea typeface="Georgia"/>
                <a:cs typeface="Georgia"/>
                <a:sym typeface="Georgia"/>
              </a:rPr>
              <a:t>0.65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61772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61772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CV F1-Score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61772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6D6A0"/>
                </a:solidFill>
                <a:latin typeface="Georgia"/>
                <a:ea typeface="Georgia"/>
                <a:cs typeface="Georgia"/>
                <a:sym typeface="Georgia"/>
              </a:rPr>
              <a:t>0.314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291840" y="2011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demand_range &amp; duration_hours are strongest predictors of high-emission events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080760" y="841248"/>
            <a:ext cx="2697480" cy="2176272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080760" y="841248"/>
            <a:ext cx="2697480" cy="54864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172200" y="896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172200" y="10972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17220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17220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R²-Score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17220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B703"/>
                </a:solidFill>
                <a:latin typeface="Georgia"/>
                <a:ea typeface="Georgia"/>
                <a:cs typeface="Georgia"/>
                <a:sym typeface="Georgia"/>
              </a:rPr>
              <a:t>0.237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749808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749808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49808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B703"/>
                </a:solidFill>
                <a:latin typeface="Georgia"/>
                <a:ea typeface="Georgia"/>
                <a:cs typeface="Georgia"/>
                <a:sym typeface="Georgia"/>
              </a:rPr>
              <a:t>105.4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172200" y="2011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76% of MOER variance unexplained — demand alone cannot represent emergency dispatch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8961120" y="841248"/>
            <a:ext cx="2697480" cy="2176272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8961120" y="841248"/>
            <a:ext cx="2697480" cy="54864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9052560" y="896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PATTERN MINING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9052560" y="10972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FP-Growth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905256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905256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Max Lift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905256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1.77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0378440" y="1426464"/>
            <a:ext cx="1188720" cy="5303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10378440" y="144475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0378440" y="16276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9052560" y="201168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off_peak → high_demand rule reveals heat-wave demand shifts normal diurnal patterns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320040" y="312724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K-MEANS · GRID STATE ARCHETYPES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401568"/>
            <a:ext cx="539496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/>
          <p:nvPr/>
        </p:nvSpPr>
        <p:spPr>
          <a:xfrm>
            <a:off x="5943600" y="3127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LOGISTIC REG · ROC CURVE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401568"/>
            <a:ext cx="320040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"/>
          <p:cNvSpPr/>
          <p:nvPr/>
        </p:nvSpPr>
        <p:spPr>
          <a:xfrm>
            <a:off x="9326880" y="3127248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LESSONS LEARNED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9326880" y="3401568"/>
            <a:ext cx="2514600" cy="7315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9372600" y="3493008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9674352" y="347472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Events decouple demand &amp; emissions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9674352" y="372160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R²=0.237 is the finding — emergencies break the normal demand–carbon curve, not a model failure.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9326880" y="4224528"/>
            <a:ext cx="2514600" cy="7315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9372600" y="4315968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9674352" y="429768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 &gt; peak intensity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9674352" y="454456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Event duration (r=0.84 with total excess CO₂) dominates over peak spike size (r=0.29).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9326880" y="5047488"/>
            <a:ext cx="2514600" cy="7315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9372600" y="5138928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9674352" y="512064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API-first pays 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9674352" y="53675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Reproducible, real-time capable pipeline vs. static Kaggle data. Code publicly released.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9326880" y="5870448"/>
            <a:ext cx="2514600" cy="731520"/>
          </a:xfrm>
          <a:prstGeom prst="rect">
            <a:avLst/>
          </a:prstGeom>
          <a:solidFill>
            <a:srgbClr val="131E2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9372600" y="5961888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9674352" y="594360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granularities needed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9674352" y="619048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15-min time-series for clustering/regression; event-level for classification. Different questions, different units.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320040" y="5394960"/>
            <a:ext cx="8915400" cy="1188720"/>
          </a:xfrm>
          <a:prstGeom prst="rect">
            <a:avLst/>
          </a:prstGeom>
          <a:solidFill>
            <a:srgbClr val="061520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320040" y="5394960"/>
            <a:ext cx="54864" cy="1188720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502920" y="5449824"/>
            <a:ext cx="8641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0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CONVERGING FINDING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502920" y="5705856"/>
            <a:ext cx="8641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6E5"/>
                </a:solidFill>
                <a:latin typeface="Calibri"/>
                <a:ea typeface="Calibri"/>
                <a:cs typeface="Calibri"/>
                <a:sym typeface="Calibri"/>
              </a:rPr>
              <a:t>The low R² of Linear Regression, the modest ROC-AUC of Logistic Regression, and the off_peak → high_demand FP-Growth rule all converge on the same conclusion: hazardous grid events do not simply amplify normal operating patterns — they create fundamentally different demand–carbon dynamics that standard demand-driven models cannot represent.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0" y="6656832"/>
            <a:ext cx="12161520" cy="36576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0" y="6720840"/>
            <a:ext cx="1216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1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91A8"/>
                </a:solidFill>
                <a:latin typeface="Calibri"/>
                <a:ea typeface="Calibri"/>
                <a:cs typeface="Calibri"/>
                <a:sym typeface="Calibri"/>
              </a:rPr>
              <a:t>aazodpe.github.io  ·  github.com/aazodpe/aazodpe.github.io  ·  Group 4  ·  CU Boulder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